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ECONOMICS UNIVERSITY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Management of Advanced Education Programs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Price Decomposition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Promotional Erosion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on Winmart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730088" y="3840480"/>
            <a:ext cx="73152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088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90008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4088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90008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11224401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4088" y="4654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0008" y="4654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Administration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44088" y="4946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90008" y="4946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64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44088" y="5239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90008" y="5239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Nguyễn Mạnh Thế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4088" y="5532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90008" y="5532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Đinh Thị Hồng Thêu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Hanoi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for the next fifteen minutes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30088" y="1783080"/>
            <a:ext cx="73152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748" y="22860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068" y="25603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06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1028" y="2514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1028" y="2944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·  research question  ·  objectives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1588" y="22860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5908" y="25603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59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98868" y="2514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  —  LITERATURE 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98868" y="2944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theory  ·  4-quadrant brand typology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3748" y="36576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8068" y="39319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8068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1028" y="38862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2  —  METHODOLOGY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21028" y="4315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hedonic specification  ·  dual-price 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1588" y="36576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5908" y="39319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98868" y="38862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3  —  EMPIRICAL APPLICATION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98868" y="4315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regression  ·  per-category  ·  promotional erosion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748" y="50292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068" y="53035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8068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21028" y="5257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4  —  DISCUSSION &amp; RECOMMENDATIONS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821028" y="5687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principal findings  ·  limitations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1588" y="5029200"/>
            <a:ext cx="5166360" cy="1188720"/>
          </a:xfrm>
          <a:prstGeom prst="rect">
            <a:avLst/>
          </a:prstGeom>
          <a:solidFill>
            <a:srgbClr val="06182E"/>
          </a:solidFill>
          <a:ln w="9525">
            <a:solidFill>
              <a:srgbClr val="C8A0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5908" y="5303520"/>
            <a:ext cx="640080" cy="64008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5908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98868" y="5257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98868" y="5687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  ·  Q &amp; 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Motivation, Question, Objectives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study  ·  what it asks  ·  how it goes about answering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OPENING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Prices, One Product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puzzle hiding in plain sight on Vietnamese online grocery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02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86000"/>
            <a:ext cx="4206240" cy="1463040"/>
          </a:xfrm>
          <a:prstGeom prst="rect">
            <a:avLst/>
          </a:prstGeom>
          <a:solidFill>
            <a:srgbClr val="EFE9DA"/>
          </a:solidFill>
          <a:ln w="12700">
            <a:solidFill>
              <a:srgbClr val="EFE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86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illustrative product 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 tươi tiệt trùng có đường — 1 lít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price:  29,500 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25,800 ₫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840480" y="2377440"/>
            <a:ext cx="1280160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−12.5%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2,286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59536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tracked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59536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of scraping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59536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categories, 40 sub-categories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5852160"/>
            <a:ext cx="11368735" cy="50292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85216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products on Winmart show two prices — and the gap is not random.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OPENING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0911535" cy="15544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product attributes generate price premiums in Vietnamese online grocery, and to what extent do promotional pricing strategies erode those premiums?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512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128" y="3703320"/>
            <a:ext cx="3657600" cy="7315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44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944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44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attributes (brand, recognition, premium tier, import, health claims, pack size) generate statistically significant price premiums.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704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67048" y="3703320"/>
            <a:ext cx="3657600" cy="7315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1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4136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4136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promotional discounts erode those premiums at checkout — exploiting the dual-price structure of Winmart listings.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896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8968" y="3703320"/>
            <a:ext cx="3657600" cy="7315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328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7328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7328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attribute premium structures vary across the ten product categories — heterogeneity beneath the pooled average.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&amp;  Theoretical Framework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theory  ·  brand equity dimensions  ·  the four-quadrant typology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THEORETICAL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Theory — Goods as Attribute Bundles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50-year intellectual lineage in three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3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6648" y="2834640"/>
            <a:ext cx="109728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6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7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6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LANCASTER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6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 comes from attributes, not goods.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66648" y="4800600"/>
            <a:ext cx="365760" cy="2743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6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buying a bottle of milk is buying volume, calcium, brand reputation, and shelf-life — not "milk" as an indivisible unit.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99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4248" y="2834640"/>
            <a:ext cx="109728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42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7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242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42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implicit price ∂P/∂zᵢ is the equilibrium hedonic price.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24248" y="4800600"/>
            <a:ext cx="365760" cy="2743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42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market equilibrium, each attribute carries an implicit price recoverable by regressing observed prices on attributes.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75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1848" y="2834640"/>
            <a:ext cx="109728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18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7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18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EKELAND ET AL.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18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First-stage interpretation only.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81848" y="4800600"/>
            <a:ext cx="365760" cy="2743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18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recover the price function — not structural demand or supply parameters. This thesis respects that boundary throughout.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rot="1800000">
            <a:off x="4129888" y="4005072"/>
            <a:ext cx="274320" cy="219456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800000">
            <a:off x="7787488" y="4005072"/>
            <a:ext cx="274320" cy="219456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thesis estimates a Rosen first-stage hedonic price function on Winmart listings.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THEORETICAL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Equity — The Four-Quadrant Typology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conventional brand premium into orthogonal dimensions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6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2194560"/>
            <a:ext cx="0" cy="3657600"/>
          </a:xfrm>
          <a:prstGeom prst="line">
            <a:avLst/>
          </a:prstGeom>
          <a:noFill/>
          <a:ln w="19050">
            <a:solidFill>
              <a:srgbClr val="0B26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023360"/>
            <a:ext cx="5943600" cy="0"/>
          </a:xfrm>
          <a:prstGeom prst="line">
            <a:avLst/>
          </a:prstGeom>
          <a:noFill/>
          <a:ln w="19050">
            <a:solidFill>
              <a:srgbClr val="0B26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231136"/>
            <a:ext cx="2898648" cy="1755648"/>
          </a:xfrm>
          <a:prstGeom prst="rect">
            <a:avLst/>
          </a:prstGeom>
          <a:solidFill>
            <a:srgbClr val="A88B3F">
              <a:alpha val="22000"/>
            </a:srgbClr>
          </a:solidFill>
          <a:ln w="12700">
            <a:solidFill>
              <a:srgbClr val="A88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recognition · low 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31336" y="2231136"/>
            <a:ext cx="2898648" cy="1755648"/>
          </a:xfrm>
          <a:prstGeom prst="rect">
            <a:avLst/>
          </a:prstGeom>
          <a:solidFill>
            <a:srgbClr val="C8A02D">
              <a:alpha val="22000"/>
            </a:srgbClr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77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recognition · high price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" y="4059936"/>
            <a:ext cx="2898648" cy="1755648"/>
          </a:xfrm>
          <a:prstGeom prst="rect">
            <a:avLst/>
          </a:prstGeom>
          <a:solidFill>
            <a:srgbClr val="D6CDB4">
              <a:alpha val="22000"/>
            </a:srgbClr>
          </a:solidFill>
          <a:ln w="12700">
            <a:solidFill>
              <a:srgbClr val="D6CD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 · low price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31336" y="4059936"/>
            <a:ext cx="2898648" cy="1755648"/>
          </a:xfrm>
          <a:prstGeom prst="rect">
            <a:avLst/>
          </a:prstGeom>
          <a:solidFill>
            <a:srgbClr val="F0D77A">
              <a:alpha val="22000"/>
            </a:srgbClr>
          </a:solidFill>
          <a:ln w="12700">
            <a:solidFill>
              <a:srgbClr val="F0D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77640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 · high price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QUALITY  (Aaker, 1991)  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897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price-tier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5897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price-tier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 rot="16200000">
            <a:off x="-7772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  (Keller, 1993)  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 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2697480"/>
            <a:ext cx="54864" cy="6400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62672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identifiable brand name (1,581 products, 69.2%)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3474720"/>
            <a:ext cx="54864" cy="6400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62672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subcategory median (452 products, 19.8%)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4251960"/>
            <a:ext cx="54864" cy="6400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62672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nationally distributed brands (709 products, 31.0%)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5029200"/>
            <a:ext cx="54864" cy="6400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62672" y="5303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 / WinMart private label (21 products, 0.9%)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THEORETICAL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Prices as a Reliable Data Source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web-scraped prices are economically meaningful — four pillars of empirical validity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3290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8745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387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CAVALLO (2017)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9948" y="1947672"/>
            <a:ext cx="1188720" cy="329184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9948" y="1947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prices ≈ offline prices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5067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countries · 10 multi-channel retailers. 72% of identical products carry identical prices in both channels. Online prices reflect the same pricing strategy — Winmart's scraped prices are representative, not a digital artefact.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4428" y="1828800"/>
            <a:ext cx="543290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4428" y="1828800"/>
            <a:ext cx="91440" cy="18745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3028" y="1965960"/>
            <a:ext cx="387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SCHIPMANN &amp; QAIM (2011)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25735" y="1947672"/>
            <a:ext cx="1188720" cy="329184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25735" y="1947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channel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3028" y="233172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retailer = clean identification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93028" y="2697480"/>
            <a:ext cx="5067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format (wet market vs supermarket vs premium) creates structural price variation that reflects rent, branding, customer base — NOT product attributes. Single-retailer design eliminates format confounding.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543290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86200"/>
            <a:ext cx="91440" cy="18745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387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HÜLTEN (2002)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9948" y="4005072"/>
            <a:ext cx="1188720" cy="329184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9948" y="4005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 days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38912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data captures promo dynamics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5067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Survey-based CPIs aggregate over reporting periods, smoothing out within-period promotional dynamics. The 88-day daily panel captures the full promotional trajectory — introduction, duration, removal — that monthly data averages away.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4428" y="3886200"/>
            <a:ext cx="543290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4428" y="3886200"/>
            <a:ext cx="91440" cy="18745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3028" y="4023360"/>
            <a:ext cx="387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 (2020)  ·  TRAN ET AL. (2025)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225735" y="4005072"/>
            <a:ext cx="1188720" cy="329184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25735" y="4005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dual-price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93028" y="438912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 actually use these prices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93028" y="4754880"/>
            <a:ext cx="5067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online grocery shoppers are price-aware and comparison-oriented; transparency drives digital adoption. The marked / final dual-price display on Winmart is not decorative — it is a deliberate signal consumers act 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94415" cy="384048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8521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Together: web-scraped daily dual-price data on Winmart is economically meaningful, format-clean, temporally rich, and consumer-relevant.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 ·  hedonic specification  ·  the dual-price design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— Winmart, 88 days, 10 categories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robots scraping daily, 18 Dec 2025 → 15 Mar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8" y="2194560"/>
            <a:ext cx="2011680" cy="8686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088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SCRAPING ROBOTS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088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auto_crawl.py · daily HTTP 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800000">
            <a:off x="2639416" y="2537460"/>
            <a:ext cx="182880" cy="18288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9728" y="2194560"/>
            <a:ext cx="2011680" cy="8686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4116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116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 · JWT auth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1800000">
            <a:off x="4879696" y="2537460"/>
            <a:ext cx="182880" cy="18288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0008" y="2194560"/>
            <a:ext cx="2011680" cy="8686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8144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8144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run_YYYY-MM-DD_RunID.json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1800000">
            <a:off x="7119976" y="2537460"/>
            <a:ext cx="182880" cy="18288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0288" y="2194560"/>
            <a:ext cx="2011680" cy="8686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172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CSV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2172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day, per category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1800000">
            <a:off x="9360256" y="2537460"/>
            <a:ext cx="182880" cy="18288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70568" y="2194560"/>
            <a:ext cx="2011680" cy="8686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6200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DATASET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6200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2,274 products · time-averaged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SCHEMA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06908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product name (NLP source)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selling unit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4672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final_price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4672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price (sale / discounted) in VND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928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marked_price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4928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price (original) in VND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5184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product_url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77440" y="5184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5440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scrape_timestamp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5440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HH:MM:SS · Asia/Ho_Chi_Minh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" y="5696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77440" y="5696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run identifier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PARENT CATEGORIES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40690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4251960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4160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 Tươi · Dairy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61120" y="4251960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4160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Rau-Củ-Trái Cây · Fresh Produce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4636008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4544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Khô · Dry Food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961120" y="4636008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4544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Mì-Thực Phẩm Ăn Liền · Instant Food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63640" y="5020056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928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Chế Biến · Processed Food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961120" y="5020056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0" y="4928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Đông Lạnh · Frozen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63640" y="5404104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53126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Trứng-Đậu Hũ · Eggs &amp; Tofu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961120" y="5404104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53126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Bánh Kẹo · Confectionary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63640" y="5788152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5696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Vị · Spices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961120" y="5788152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0" y="5696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Chăm Sóc Bé · Baby Products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Specification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 OLS · 10 features · 40 sub-category fixed effects · cluster-robust 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28800"/>
            <a:ext cx="11368735" cy="128016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ln(P / unit) = α + β₁·is_branded + β₂·is_premium + β₃·is_high_recognition + β₄·is_import + β₅·is_house_brand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β₆·ln(pack_size) + β₇·pack_count + β₈·has_health_claim + β₉·has_freshness_claim + β₁₀·name_length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γ · subcategory_FE + 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20440"/>
            <a:ext cx="54864" cy="14173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04672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regression sample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 sparse-product filter)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93008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3520440"/>
            <a:ext cx="54864" cy="14173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657600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as fixed effects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level for SE)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45936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3520440"/>
            <a:ext cx="54864" cy="14173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510528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NLP regressors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(brand, origin, pack, health)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98864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3520440"/>
            <a:ext cx="54864" cy="14173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63456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363456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R², both specifications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63456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(marked vs final)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52120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log-linear, not Box-Cox: standard in food hedonics (Malpezzi 2002; Costanigro &amp; McCluskey 2011); preserves the percentage-premium interpretation that is the entire point of the decomposition.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C8A02D">
              <a:alpha val="20000"/>
            </a:srgbClr>
          </a:solidFill>
          <a:ln w="6350">
            <a:solidFill>
              <a:srgbClr val="C8A0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TWICE — once on ln(marked_price / unit), once on ln(final_price / unit). Same regressors. Same FE. Same SE. Different dependent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Dual-Price Design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contribution of this thesis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 — MARKED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ln(marked_price / unit)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sticker-price implicit attribute prices — what the retailer signals on the virtual shelf.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03120"/>
            <a:ext cx="521208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B — FINAL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ln(final_price / unit)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checkout-price implicit attribute prices — what the consumer actually pays.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911535" cy="9144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26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EROSION (%)  =  ( β_marked  −  β_final )  /  β_marked  ×  100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premium shrinks at checkout       Negative → premium grows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669280"/>
            <a:ext cx="10911535" cy="594360"/>
          </a:xfrm>
          <a:prstGeom prst="rect">
            <a:avLst/>
          </a:prstGeom>
          <a:solidFill>
            <a:srgbClr val="06182E"/>
          </a:solidFill>
          <a:ln w="12700">
            <a:solidFill>
              <a:srgbClr val="0618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66928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DESCRIPTIVE, NOT CAUSAL  —  We document patterns; we do not identify the retailer's pricing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Application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days · 2,286 products · pooled regression · per-category · promotional erosion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Pooled Hedonic Results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plot · Marked vs Final · 95% cluster-robust CI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pic>
        <p:nvPicPr>
          <p:cNvPr id="8" name="Image 0" descr="/sessions/brave-clever-ramanujan/mnt/Online Food Price/output/thesis_fig2_forest_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694944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874520"/>
            <a:ext cx="40233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1874520"/>
            <a:ext cx="4023360" cy="4114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SIGNIFICANT COEFFICIENTS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09560" y="2468880"/>
            <a:ext cx="54864" cy="1051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 → +0.44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0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~43–44% markup over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non-premium branded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09560" y="3703320"/>
            <a:ext cx="54864" cy="105156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46720" y="3977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−0.255 → −0.266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0" y="4361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Giants are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other branded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09560" y="4937760"/>
            <a:ext cx="54864" cy="1051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0" y="4937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046720" y="5212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−0.384 → −0.395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46720" y="5596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pack size →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−3.8% unit price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09560" y="5806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 =  0.639 (marked)  /  0.642 (final)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626364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*** p&lt;0.001. Cluster-robust SE at sub-category level (40 clusters). N = 2,203 products.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Per-Category Heterogeneity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pooled coefficient is an average over very different markets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pic>
        <p:nvPicPr>
          <p:cNvPr id="8" name="Image 0" descr="/sessions/brave-clever-ramanujan/mnt/Online Food Price/output/thesis_fig_category_heterogene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676656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874520"/>
            <a:ext cx="4206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1874520"/>
            <a:ext cx="73152" cy="20574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PREMIUM IS NOT UNIFORM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1812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+100.4%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8181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(p &lt; 0.001)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1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−60.8%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81812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Food (p = 0.013)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4114800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4114800"/>
            <a:ext cx="73152" cy="214884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CLAIMS PAY OFF SELECTIVELY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18120" y="4572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only in the two categories where Vietnamese consumers feel the strongest food-safety concerns: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5212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Spices  +38.2%  (p = 0.03)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18120" y="5486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Fresh Produce  +0.382  (p &lt; 0.05)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5852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Insignificant in snacks, frozen, processed.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6263640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band — high (&gt;0.6): Dry Food 0.831 · Baby 0.753 · Dairy 0.688   |   middle (0.5–0.6): Fresh Produce, Spices, Frozen   |   low (&lt;0.5): Confectionary, Processed, Instant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Promotional Erosion of Attribute Premiums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sticker to checkout — and what does not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6583680" cy="4572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MARKED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FINAL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14600"/>
            <a:ext cx="6583680" cy="713232"/>
          </a:xfrm>
          <a:prstGeom prst="rect">
            <a:avLst/>
          </a:prstGeom>
          <a:solidFill>
            <a:srgbClr val="102B4F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1460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514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+0.429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2514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D2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697480"/>
            <a:ext cx="10972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27832"/>
            <a:ext cx="6583680" cy="713232"/>
          </a:xfrm>
          <a:prstGeom prst="rect">
            <a:avLst/>
          </a:prstGeom>
          <a:solidFill>
            <a:srgbClr val="0A1F36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22783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2278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+0.022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2278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+0.011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22783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+50.6%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3410712"/>
            <a:ext cx="1097280" cy="347472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4107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941064"/>
            <a:ext cx="6583680" cy="713232"/>
          </a:xfrm>
          <a:prstGeom prst="rect">
            <a:avLst/>
          </a:prstGeom>
          <a:solidFill>
            <a:srgbClr val="102B4F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410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9410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39410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63440" y="394106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D2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+4.3%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035040" y="4123944"/>
            <a:ext cx="10972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123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654296"/>
            <a:ext cx="6583680" cy="713232"/>
          </a:xfrm>
          <a:prstGeom prst="rect">
            <a:avLst/>
          </a:prstGeom>
          <a:solidFill>
            <a:srgbClr val="0A1F36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6542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46542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−0.046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40480" y="46542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65429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+475.6%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35040" y="4837176"/>
            <a:ext cx="1097280" cy="347472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8371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9520" y="2057400"/>
            <a:ext cx="4206240" cy="4023360"/>
          </a:xfrm>
          <a:prstGeom prst="rect">
            <a:avLst/>
          </a:prstGeom>
          <a:solidFill>
            <a:srgbClr val="F7F3EC"/>
          </a:solidFill>
          <a:ln w="25400">
            <a:solidFill>
              <a:srgbClr val="B218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18120" y="27432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erodes brand-name premiums by half — but leaves price-tier premiums fully intact.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7818120" y="4389120"/>
            <a:ext cx="457200" cy="36576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 — the most striking single result 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1812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near-parity sticker prices and applies deep promotional discounts only at checkout.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18120" y="5669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WinEco evidence is suggestive — n = 21 products at one retailer.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&amp; Robustness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estimates survive every standard check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1874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606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VIF &lt; 2.0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1.54 on is_branded. The hierarchical brand encoding does NOT introduce problematic collinearity. The three brand dimensions are separately identified.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103120"/>
            <a:ext cx="54864" cy="1874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377440"/>
            <a:ext cx="640080" cy="6400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377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HETEROSKEDASTICITY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606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 rejects (p &lt; 0.001)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= 190.77 (marked) / 192.08 (final). Cluster-robust standard errors at the sub-category level (40 clusters) are therefore the appropriate inference choice.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251960"/>
            <a:ext cx="54864" cy="1874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4526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4.2% above 4/n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8680" y="5257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of 2,066 products exceed Cook's standard threshold; high-influence set spread across categories; coefficients re-estimated without them match within 0.01 log-points.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25196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251960"/>
            <a:ext cx="54864" cy="1874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26280"/>
            <a:ext cx="640080" cy="6400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526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flat across months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583680" y="5257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re-estimated on Dec / Jan / Feb monthly snapshots — adjusted R² of 0.669 / 0.669 / 0.658. Coefficient signs and magnitudes unchanged.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263640"/>
            <a:ext cx="10911535" cy="0"/>
          </a:xfrm>
          <a:prstGeom prst="rect">
            <a:avLst/>
          </a:prstGeom>
          <a:noFill/>
          <a:ln w="25400">
            <a:solidFill>
              <a:srgbClr val="C8A02D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Recommendations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principal findings  ·  what they mean  ·  limitations  ·  who they help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 —  Price-tier Dominates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survives discounting · the largest, most resilient attribute premium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5760720" cy="118872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IS_PREMIUM COEFFICIENT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  →  +0.44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43–44% markup over non-premium branded · erosion only −1.7%  ·  STABLE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760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|β|  at final price  ·  comparison across attributes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465576"/>
            <a:ext cx="2431938" cy="219456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429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813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3849624"/>
            <a:ext cx="2203247" cy="219456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−0.395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970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4233672"/>
            <a:ext cx="1483705" cy="219456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1970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5811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4617720"/>
            <a:ext cx="1483705" cy="219456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4581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965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is_import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5001768"/>
            <a:ext cx="652607" cy="21945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4965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+0.117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has_freshness_claim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5385816"/>
            <a:ext cx="323515" cy="21945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5349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−0.058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57332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23160" y="5769864"/>
            <a:ext cx="61356" cy="219456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5733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+0.011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1645920"/>
            <a:ext cx="5196535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1645920"/>
            <a:ext cx="483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 OBJECTIVE  1  —  IDENTIFY WHICH ATTRIBUTES GENERATE PREMIUMS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2212848"/>
            <a:ext cx="5196535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2212848"/>
            <a:ext cx="54864" cy="242316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2304288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WHY THIS HAPPENS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268833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0568" y="259689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(1997) versioning: a retailer serving consumers with heterogeneous willingness-to-pay maintains distinct price tiers — the premium tier's value depends on contrast with discounted alternatives.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319125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0568" y="309981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premium products would collapse the very signal that justifies premium margins. Near-zero erosion (−1.7%) is a deliberate pricing discipline, not incidental.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369417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360273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 reflects genuine product differentiation: imported inputs, specialised packaging, niche brand identity — not a labelling effect.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419709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0568" y="410565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finding — pack size: β = −0.39 (p &lt; 0.001), erosion only 2.8%. Physical attributes are the most promotion-resistant savings of all.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4745736"/>
            <a:ext cx="5196535" cy="1335024"/>
          </a:xfrm>
          <a:prstGeom prst="rect">
            <a:avLst/>
          </a:prstGeom>
          <a:solidFill>
            <a:srgbClr val="F7F3EC"/>
          </a:solidFill>
          <a:ln w="19050">
            <a:solidFill>
              <a:srgbClr val="C8A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4837176"/>
            <a:ext cx="483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 ·  WHAT THIS ANSWERS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5093208"/>
            <a:ext cx="483077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"Attribute-bundle theory predicts that genuinely differentiated attributes carry stable implicit prices. Price-tier behaves exactly that way. The retailer's pricing discipline confirms Varian-style versioning at the platform level."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291072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§4.1, paragraphs 1–2 (price-tier dominance) + §4.1 closing paragraph (pack-size economies)  ·  Theory: Lancaster 1966 · Rosen 1974 · Varian 1997 · Costanigro &amp; McCluskey 2011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 —  Brand-name Premiums Erode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traffic-driving logic · the methodological payoff of the dual-price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5760720" cy="118872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 ·  IS_BRANDED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+50.6%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 +0.022  →  checkout  +0.011   ·   WinEco amplifies to +475.6%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760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·  sticker  →  checkout  ·  by attribute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51960" y="3447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03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5196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251960"/>
            <a:ext cx="5486400" cy="502920"/>
          </a:xfrm>
          <a:prstGeom prst="rect">
            <a:avLst/>
          </a:prstGeom>
          <a:solidFill>
            <a:srgbClr val="F8F8F8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51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+0.022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4612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51960" y="42519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+50.6%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80060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00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4800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4800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51960" y="4800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+4.3%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5349240"/>
            <a:ext cx="5486400" cy="502920"/>
          </a:xfrm>
          <a:prstGeom prst="rect">
            <a:avLst/>
          </a:prstGeom>
          <a:solidFill>
            <a:srgbClr val="F8F8F8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5349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−0.046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46120" y="5349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51960" y="5349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+475.6%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989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(β_marked − β_final) / β_marked × 100  ·  N = 2,203 products  ·  cluster-robust 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1645920"/>
            <a:ext cx="5196535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645920"/>
            <a:ext cx="483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 OBJECTIVE  2  —  MEASURE HOW PROMOTION ERODES PREMIUMS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2212848"/>
            <a:ext cx="5196535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2212848"/>
            <a:ext cx="54864" cy="242316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304288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WHY THIS HAPPENS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268833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259689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 (1993) customer-based brand equity: high-awareness brands work as promotional anchors. Recognition draws traffic; the premium need not be large at the shelf.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319125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0568" y="309981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 without premium positioning lands in the "Household Giant" quadrant — well-known, widely distributed, priced at or below the subcategory median.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75120" y="369417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360273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 (private label) — sticker −4.6% (n.s.) → checkout −26.6% (p &lt; 0.001). 22-pp gap avoids shelf-price stigma while delivering loss-leader checkout pricing.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419709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410565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Cavallo (2017): online platforms reveal pricing channels invisible to offline scanner data. Web-scraping is what makes this measurable.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4745736"/>
            <a:ext cx="5196535" cy="1335024"/>
          </a:xfrm>
          <a:prstGeom prst="rect">
            <a:avLst/>
          </a:prstGeom>
          <a:solidFill>
            <a:srgbClr val="F7F3EC"/>
          </a:solidFill>
          <a:ln w="19050">
            <a:solidFill>
              <a:srgbClr val="C8A0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837176"/>
            <a:ext cx="483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 ·  WHAT THIS ANSWERS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29400" y="5093208"/>
            <a:ext cx="483077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dual-price design is the methodological contribution of this thesis. It exposes an asymmetry no single-price hedonic could find: brand-name is largely a promotional vehicle, not a stable signal of quality."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6291072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§4.1, paragraphs 3–5 (brand-name erosion + WinEco)  ·  Theory: Keller 1993 customer-based brand equity · Aaker 1991 perceived quality · Cavallo 2017 online retail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 —  Category Heterogeneity is Systematic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coefficient hides structure · attribute value depends on category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5760720" cy="118872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PREMIUM  · 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+100%   ↔   −61%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(p &lt; 0.001)  vs  Processed Food (p = 0.013)  ·  same attribute, opposite signs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760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premium  ·  by parent category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3429000"/>
            <a:ext cx="0" cy="2459736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511296"/>
            <a:ext cx="1005840" cy="201168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Food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3849624"/>
            <a:ext cx="673913" cy="201168"/>
          </a:xfrm>
          <a:prstGeom prst="rect">
            <a:avLst/>
          </a:prstGeom>
          <a:solidFill>
            <a:srgbClr val="F4A582"/>
          </a:solidFill>
          <a:ln w="12700">
            <a:solidFill>
              <a:srgbClr val="F4A5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0033" y="38130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5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+67%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51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4187952"/>
            <a:ext cx="100584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4151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489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Food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4526280"/>
            <a:ext cx="120701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6821" y="44897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828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42870" y="4864608"/>
            <a:ext cx="311810" cy="201168"/>
          </a:xfrm>
          <a:prstGeom prst="rect">
            <a:avLst/>
          </a:prstGeom>
          <a:solidFill>
            <a:srgbClr val="92C5DE"/>
          </a:solidFill>
          <a:ln w="12700">
            <a:solidFill>
              <a:srgbClr val="92C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8510" y="48280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5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-31%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53512" y="5202936"/>
            <a:ext cx="201168" cy="201168"/>
          </a:xfrm>
          <a:prstGeom prst="rect">
            <a:avLst/>
          </a:prstGeom>
          <a:solidFill>
            <a:srgbClr val="92C5DE"/>
          </a:solidFill>
          <a:ln w="12700">
            <a:solidFill>
              <a:srgbClr val="92C5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5166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5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504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Food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41118" y="5541264"/>
            <a:ext cx="613562" cy="201168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46758" y="55046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-61%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46120" y="55046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1645920"/>
            <a:ext cx="5196535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645920"/>
            <a:ext cx="483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 OBJECTIVE  3  —  COMPARE HOW PREMIUMS VARY ACROSS CATEGORIES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2212848"/>
            <a:ext cx="5196535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2212848"/>
            <a:ext cx="54864" cy="242316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304288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WHY THIS HAPPENS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268833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259689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Mergenthaler et al. (2009): Vietnamese consumers express ~60% willingness-to-pay premium for low-residue attributes in fresh produce — a category where food-safety concerns are most salient.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319125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0568" y="309981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processed food carries a NEGATIVE premium because well-established domestic brands dominate; imports signal unfamiliarity rather than quality.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75120" y="369417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360273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Health-claim premiums significant only in Spices (+38.2%, p = 0.03) and Fresh Produce — categories where food-safety concerns are strongest.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4197096"/>
            <a:ext cx="73152" cy="73152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4105656"/>
            <a:ext cx="4629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et al. (2021): food values in peri-urban Hanoi vary by category. Credence attributes are not uniformly valued — context determines premium.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4745736"/>
            <a:ext cx="5196535" cy="1335024"/>
          </a:xfrm>
          <a:prstGeom prst="rect">
            <a:avLst/>
          </a:prstGeom>
          <a:solidFill>
            <a:srgbClr val="F7F3EC"/>
          </a:solidFill>
          <a:ln w="19050">
            <a:solidFill>
              <a:srgbClr val="C8A0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837176"/>
            <a:ext cx="483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 ·  WHAT THIS ANSWERS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29400" y="5093208"/>
            <a:ext cx="483077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pooled hedonic coefficient hides economically meaningful structure. Category context is not noise — it is the substantive finding. Credence attributes (origin, health claims) are valued only where they answer a real consumer concern."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6291072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§4.1, paragraphs 6–7 (per-category heterogeneity)  ·  Theory: Nelson 1970 search/experience/credence · Costanigro &amp; McCluskey 2011 · Mergenthaler et al. 2009 · Bell et al. 2021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implications for four distinct audiences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5318608" cy="4114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CONSUMERS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91440" cy="9144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 &gt; brand name as a savings signal.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91440" cy="9144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54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size offers the most discount-resistant unit-price savings (~3.8% per +10% pack).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91440" cy="9144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11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deeper discounts on Household Giants and WinEco at checkout.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3008" y="2103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2103120"/>
            <a:ext cx="5318608" cy="4114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608" y="2103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07328" y="2788920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0208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Premium-tier positioning is protected through the promotional cycle.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07328" y="3246120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0208" y="3154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Giants are already discount targets — limited remaining margin.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07328" y="3703320"/>
            <a:ext cx="91440" cy="91440"/>
          </a:xfrm>
          <a:prstGeom prst="ellips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0208" y="3611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positioning is category-selective: works in Fresh Produce, hurts in Processed Food.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389120"/>
            <a:ext cx="5318608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389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POLICY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074920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4983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penetration (0–36%) varies far more than depth (12–19%).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5532120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440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should target where, not how much.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5989320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5897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WinEco's 22-pp sticker-to-checkout gap warrants broader investigation.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3008" y="4389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3008" y="4389120"/>
            <a:ext cx="5318608" cy="41148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1608" y="4389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RESEARCH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07328" y="5074920"/>
            <a:ext cx="91440" cy="9144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0208" y="4983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Multi-retailer extension (Annam Gourmet, Bách Hóa Xanh, wet markets).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328" y="5532120"/>
            <a:ext cx="91440" cy="9144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0208" y="5440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Transaction-volume data → demand response.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328" y="5989320"/>
            <a:ext cx="91440" cy="9144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0208" y="5897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approach using third-party brand equity surveys to address is_premium endogeneity.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 — 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cannot do — and what we do about 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5577840" cy="4114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011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/ DESIGN 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423160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231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Single-retailer external validity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49631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 — holds platform fee, logistics, presentation control constant. Future research: multi-retailer comparison.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51206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136392"/>
            <a:ext cx="55778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363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transaction volumes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20954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captures listed prices only. Jevons is the CPI-manual fallback when expenditure weights are unavailable.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3849624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4962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brand-dictionary noise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92277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310-keyword manually curated, conservative. Misclassification attenuates coefficients toward zero — biases against findings.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62856"/>
            <a:ext cx="51206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4562856"/>
            <a:ext cx="55778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6285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is_premium partial endogeneity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463600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is ordinal not cardinal; subcategory FE absorb level effects; flagged in §3.7. IV with brand equity surveys = future work.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276088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5276088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2760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formal Tết event study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53492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Confectionary cold-start (Feb 2) and Instant_food gap preclude a clean event design. Replaced with descriptive Tết-window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learn?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answers  ·  one contribution  ·  one open invitation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learn?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74520"/>
            <a:ext cx="11368735" cy="1325880"/>
          </a:xfrm>
          <a:prstGeom prst="rect">
            <a:avLst/>
          </a:prstGeom>
          <a:solidFill>
            <a:srgbClr val="06182E"/>
          </a:solidFill>
          <a:ln w="12700">
            <a:solidFill>
              <a:srgbClr val="0618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74520"/>
            <a:ext cx="1280160" cy="13258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187452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premiums exist — and price tier (+43–44%), pack size (−3.8% per +10%), category-specific imports and health claims are the dominant 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11368735" cy="1325880"/>
          </a:xfrm>
          <a:prstGeom prst="rect">
            <a:avLst/>
          </a:prstGeom>
          <a:solidFill>
            <a:srgbClr val="06182E"/>
          </a:solidFill>
          <a:ln w="12700">
            <a:solidFill>
              <a:srgbClr val="061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383280"/>
            <a:ext cx="1280160" cy="13258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8328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38328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erodes brand-name premiums by approximately 50% between sticker and checkout — but leaves price-tier premiums fully intact (−1.7%).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4892040"/>
            <a:ext cx="11368735" cy="1325880"/>
          </a:xfrm>
          <a:prstGeom prst="rect">
            <a:avLst/>
          </a:prstGeom>
          <a:solidFill>
            <a:srgbClr val="06182E"/>
          </a:solidFill>
          <a:ln w="12700">
            <a:solidFill>
              <a:srgbClr val="0618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4892040"/>
            <a:ext cx="1280160" cy="132588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892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89204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first hedonic decomposition of Vietnamese online grocery using web-scraped daily dual-price data, contributing both a methodology and an empirical baseline.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quý thầy cô và hội đồng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730088" y="3520440"/>
            <a:ext cx="73152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Nguyễn Mạnh Thế  ·  Supervisor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Đinh Thị Hồng Thêu  ·  Mentor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4406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welcome your questions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331720"/>
            <a:ext cx="731520" cy="457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6796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On-demand evidence for Q &amp; 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 ·  methodology deep-dives  ·  citations  ·  Tết treatment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Inflation Factors — full table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4114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name_length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pack_count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has_freshness_claim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has_health_claim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663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is_import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5394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1.03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1691640"/>
            <a:ext cx="4572000" cy="4114800"/>
          </a:xfrm>
          <a:prstGeom prst="rect">
            <a:avLst/>
          </a:prstGeom>
          <a:solidFill>
            <a:srgbClr val="1B5E20">
              <a:alpha val="15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VIF &lt; 2.0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13232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threshold: 5.0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problematic multicollinearity — despite the hierarchical brand encoding (is_branded ⊇ is_premium and is_high_recognition).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4572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brand dimensions are separately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Diagnostics &amp; Temporal Stability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 / 2,066 = 4.2%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4/n threshold (= 0.00194)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Spread across categories — no single-cluster dominance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Coefficients re-estimated without high-influence set: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 within 0.01 log-points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need to drop influential observations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(Adj R²)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1,314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0.669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550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January 2026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1,327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0.669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2,053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0.658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WinEco Deep-Dive — n = 21 products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PRICE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−4.6%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−0.046  ·  n.s.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with competing brands on the virtual shelf — visually undifferentiated by price.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218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−26.6%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−0.266  ·  p &lt; 0.001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checkout discounts trigger only at the point of sale — a private-label promotional strategy.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solidFill>
            <a:srgbClr val="C8A02D">
              <a:alpha val="40000"/>
            </a:srgbClr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21 products at one retailer. Suggestive, not generalizable. Future research = multi-retailer house-brand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Per-Category R² Bands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 (R² &gt; 0.6)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 Food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Products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0.688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38218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8218" y="1691640"/>
            <a:ext cx="3515258" cy="50292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098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BAND  (0.5 ≤ R² ≤ 0.6)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66818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66818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0.539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66818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6818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66818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6818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0.526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36357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6357" y="1691640"/>
            <a:ext cx="3515258" cy="50292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9237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 (R² &lt; 0.5)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64957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Confectionary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64957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0.422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64957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Food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64957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0.395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64957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Food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64957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0.227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&amp; Tofu (n=24) omitted from per-category regression owing to insufficient sample size.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Jevons, not Laspeyres or Törnqvist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50292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LASPEYRES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Σ(Pₜ · Q₀) / Σ(P₀ · Q₀)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Base-period expenditure shares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quantities sold (Q₀). Web scraping does not capture quantities.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8218" y="1691640"/>
            <a:ext cx="351525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8218" y="1691640"/>
            <a:ext cx="3515258" cy="50292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1098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TÖRNQVIST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1098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GeoMean weighted by ½(s₀ + sₜ)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1098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1098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periods' expenditure shares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1098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1098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more demanding — needs s₀ and sₜ. Diewert (1976) shows it is superlative; not feasible here.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36357" y="1691640"/>
            <a:ext cx="351525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6357" y="1691640"/>
            <a:ext cx="351525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19237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∏(Pₜ/Pₜ₋₁)^(1/n)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9237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19237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Matched-product price relatives 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19237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19237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CPI-manual elementary aggregation when expenditure weights are unavailable. Used here.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in §5.2: a sales-weighted index would be theoretically superior; future research with transaction data could implement it.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Feature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2590724" cy="6400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product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1800000">
            <a:off x="3249092" y="1965960"/>
            <a:ext cx="146304" cy="27432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3684" y="1783080"/>
            <a:ext cx="2590724" cy="6400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124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normalization · lowercase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1800000">
            <a:off x="6022696" y="1965960"/>
            <a:ext cx="146304" cy="27432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1783080"/>
            <a:ext cx="2590724" cy="6400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8728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Diacritic-preserving regex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800000">
            <a:off x="8796299" y="1965960"/>
            <a:ext cx="146304" cy="274320"/>
          </a:xfrm>
          <a:prstGeom prst="rtTriangle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0891" y="1783080"/>
            <a:ext cx="2590724" cy="64008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331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binary / numeric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834640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1098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1098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36357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6357" y="2834640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9237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19237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593592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is_import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38218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8218" y="3593592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1098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1098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36357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3593592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9237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has_health_claim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19237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352544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has_freshness_claim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38218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8218" y="4352544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1098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21098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36357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36357" y="4352544"/>
            <a:ext cx="54864" cy="59436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9237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pack_count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19237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1–24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C8A02D">
              <a:alpha val="30000"/>
            </a:srgbClr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310-keyword brand dictionary, manually curated. Conservative by construction — misclassification attenuates coefficients toward zero (against findings).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Backbone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THEORY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Lancaster (1966)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approach to consumer theory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Rosen (1974)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prices and implicit markets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71246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Ekeland, Heckman &amp; Nesheim (2004)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86784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estimation of hedonic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38218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8218" y="1691640"/>
            <a:ext cx="3515258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098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1098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Keller (1993)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1098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Conceptualizing &amp; managing customer-based brand equity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1098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Aaker (1991)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1098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brand equity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36357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6357" y="1691640"/>
            <a:ext cx="3515258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19237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Costanigro &amp; McCluskey (2011)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9237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price analysis in food markets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19237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Malpezzi (2002)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19237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pricing: a selective and applied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19237" y="371246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Cavallo (2017)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9237" y="3986784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online and offline prices similar?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9237" y="44256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Diewert (1976)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9237" y="4700016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and superlative index numbers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9237" y="513892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Nelson (1970)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19237" y="5413248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consumer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 Predictor — complement, not substitute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HEDONIC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explanation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 implicit prices for each attribute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Cluster-robust inference at sub-category level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the dual-price erosion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the research question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DECISION TREE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prediction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p5 / p25 / p50 / p75 / p95 per sample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non-linear interactions between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for inventory &amp; pricing applications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343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Complement, not replacement, for the 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 available: thesis_dt_tree.png · thesis_dt_leaf_intervals.png · thesis_dt_diagnostics.png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Tết Window Treatment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38100">
            <a:solidFill>
              <a:srgbClr val="0B2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Dec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1828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182880" cy="1828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Feb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Confectionary added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pre-period)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182880" cy="18288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Feb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Tết Nguyên Đán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0" y="2148840"/>
            <a:ext cx="182880" cy="1828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Mid-Feb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Instant_food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155680" y="2148840"/>
            <a:ext cx="182880" cy="182880"/>
          </a:xfrm>
          <a:prstGeom prst="ellipse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3272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6576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formal event study would require dropping the very observations it most needs.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descriptive Tết-window vs non-Tết brand-gap comparison (output/brand_gap_summary.csv).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Tết-window deltas: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 pp · p = 0.021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521208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Food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−39 pp · p = 0.048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Price Index — Time Series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515258" cy="4572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B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(−8.1%)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8218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1783080"/>
            <a:ext cx="3515258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1098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38218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0.838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338218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(−16.2%)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36357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6357" y="1783080"/>
            <a:ext cx="3515258" cy="457200"/>
          </a:xfrm>
          <a:prstGeom prst="rect">
            <a:avLst/>
          </a:prstGeom>
          <a:solidFill>
            <a:srgbClr val="C8A02D"/>
          </a:solidFill>
          <a:ln w="12700">
            <a:solidFill>
              <a:srgbClr val="C8A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9237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FOOD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6357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8A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0.939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036357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(−6.1%)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10911535" cy="1371600"/>
          </a:xfrm>
          <a:prstGeom prst="rect">
            <a:avLst/>
          </a:prstGeom>
          <a:solidFill>
            <a:srgbClr val="0B2647"/>
          </a:solidFill>
          <a:ln w="12700">
            <a:solidFill>
              <a:srgbClr val="0B26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0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Disinflation in this dataset is staples-led.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date 18 December 2025 = 1.000  ·  terminal value computed at 29 March 2026.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66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output/overall_daily_average_index.csv  ·  produced by 05. food_index.py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Hedonic Price Decomposition and Promotional Erosion — Defense</dc:title>
  <dc:subject>Bachelor Thesis Defense, NEU</dc:subject>
  <dc:creator>Trần Hiếu My</dc:creator>
  <cp:lastModifiedBy>Trần Hiếu My</cp:lastModifiedBy>
  <cp:revision>1</cp:revision>
  <dcterms:created xsi:type="dcterms:W3CDTF">2026-05-06T08:25:48Z</dcterms:created>
  <dcterms:modified xsi:type="dcterms:W3CDTF">2026-05-06T08:25:48Z</dcterms:modified>
</cp:coreProperties>
</file>